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customXml" Target="../customXml/item3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customXml" Target="../customXml/item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customXml" Target="../customXml/item1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1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560320" cy="411480"/>
          </a:xfrm>
          <a:prstGeom prst="round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  <a:latin typeface="Montserrat"/>
              </a:defRPr>
            </a:pPr>
            <a:r>
              <a:t>VISÃO COMPLETA, CONTROLE TOTAL.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Cockpit Executivo Estratégico</a:t>
            </a:r>
          </a:p>
          <a:p>
            <a:pPr>
              <a:defRPr sz="2800" b="1">
                <a:solidFill>
                  <a:srgbClr val="CB9727"/>
                </a:solidFill>
                <a:latin typeface="Montserrat"/>
              </a:defRPr>
            </a:pPr>
            <a:r>
              <a:t>&amp; Soluções Analíticas de Alta Performance</a:t>
            </a:r>
          </a:p>
          <a:p>
            <a:pPr>
              <a:spcBef>
                <a:spcPts val="1400"/>
              </a:spcBef>
              <a:defRPr sz="1400">
                <a:solidFill>
                  <a:srgbClr val="A0A6AF"/>
                </a:solidFill>
                <a:latin typeface="Montserrat"/>
              </a:defRPr>
            </a:pPr>
            <a:r>
              <a:t>Catálogo executivo de dashboards em Power BI e aplicações Fullstack Python conectadas a ERPs.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66+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Dashboards Criados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13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Áreas Corporativas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2194560" cy="100584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B9727"/>
                </a:solidFill>
                <a:latin typeface="Montserrat"/>
              </a:defRPr>
            </a:pPr>
            <a:r>
              <a:t>100%</a:t>
            </a:r>
          </a:p>
          <a:p>
            <a:pPr algn="ctr">
              <a:defRPr sz="900" b="1">
                <a:solidFill>
                  <a:srgbClr val="A0A6AF"/>
                </a:solidFill>
                <a:latin typeface="Montserrat"/>
              </a:defRPr>
            </a:pPr>
            <a:r>
              <a:t>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12064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Antonio Mello  |  Especialista em BI &amp; Engenharia de Dados</a:t>
            </a:r>
          </a:p>
          <a:p>
            <a:pPr>
              <a:defRPr sz="1000">
                <a:solidFill>
                  <a:srgbClr val="E5B74B"/>
                </a:solidFill>
                <a:latin typeface="Montserrat"/>
              </a:defRPr>
            </a:pPr>
            <a:r>
              <a:t>E-mail: acmello.106@gmail.com   •   São Paulo, SP   •   Power BI • DAX • SQL • Python • 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PERFIL PROFISSIONAL &amp; ARQUITETURA TÉCNICA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A1C21"/>
          </a:solidFill>
          <a:ln w="19050">
            <a:solidFill>
              <a:srgbClr val="CB9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MODELAGEM &amp; BUSINESS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Criação de Data Warehouses corporativos sob metodologia dimensional Star Schema (Fatos e Dimensões).</a:t>
            </a:r>
            <a:br/>
            <a:r>
              <a:t>• Fórmulas analíticas complexas com DAX Avançado, Time Intelligence e otimização VertiPaq.</a:t>
            </a:r>
            <a:br/>
            <a:r>
              <a:t>• Governança de dados de ponta a ponta com Row-Level Security (RLS) dinâmico por perfil e departamento.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8264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ENGENHARIA &amp; FULLSTACK ANALYTICS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Desenvolvimento de Cockpits e Portais Web em Python (Flask) integrados nativamente ao Oracle ERP Sankhya e MariaDB.</a:t>
            </a:r>
            <a:br/>
            <a:r>
              <a:t>• Automação total de pipelines de dados, dispensando licenciamentos por usuário em telas operacionais de chão e TV.</a:t>
            </a:r>
            <a:br/>
            <a:r>
              <a:t>• Painéis de alta disponibilidade com atualização em tempo real para TV de diretoria e equipes.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645920"/>
            <a:ext cx="3383280" cy="438912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D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CB9727"/>
                </a:solidFill>
                <a:latin typeface="Montserrat"/>
              </a:defRPr>
            </a:pPr>
            <a:r>
              <a:t>IMPACTO &amp; VISÃO DE NEGÓCIO</a:t>
            </a:r>
          </a:p>
          <a:p>
            <a:pPr>
              <a:spcBef>
                <a:spcPts val="1200"/>
              </a:spcBef>
              <a:defRPr sz="1000">
                <a:solidFill>
                  <a:srgbClr val="A0A6AF"/>
                </a:solidFill>
                <a:latin typeface="Montserrat"/>
              </a:defRPr>
            </a:pPr>
            <a:r>
              <a:t>• Atuação direta com Diretores Executivos e Gerências para traduzir desafios operacionais em KPIs de tomada de ação.</a:t>
            </a:r>
            <a:br/>
            <a:r>
              <a:t>• Redução expressiva de ruptura de estoque através de módulos inteligentes de Demanda &amp; Reabastecimento.</a:t>
            </a:r>
            <a:br/>
            <a:r>
              <a:t>• Acompanhamento diário consolidado de DRE Gerencial, Comissões e Indicadores Financeiros/Vendas.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Cockpit Geral de Indicadores Estratégicos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macro corporativa com faturamento acumulado, pedidos totais e metas globais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5_dre_consolidado_empres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Consolidado Empresa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Consolidado por Empresa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8_dre_gestores_____geral__diretoria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 do Exercício - DRE Executivo e Gerencial de Gestores.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7_dashboard_nubmetrics_-_diretor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 - Diretoria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tabelas de indicadores competitivos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Mensal (%) Performance Geral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de vendas mensal consolidado com metas corporativas e oscilacoes em tempo real.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acumula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Acumulado do Ano (YTD)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vendas acumuladas no ano e atingimento de metas anuais.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trimest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Performance Trimestral (1T a 4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financeiro por trimestre: Despesas Fixas, Variaveis, Totais, Faturamento e Lucro Liquido.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todos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Todos os Canais (Cockpit 6)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Visao executiva unificada dos 6 principais canais com relogios de meta e historico trimestral.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tego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Categorias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Distribuicao percentual e metas por categorias de produtos (Secadores, Pranchas, etc.).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marc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Marcas Corporativas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executiva e metas de faturamento por marcas corporativas (MQ Hair, Parlux).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dedicado do canal Distribuicao com metas e indicadores diarios.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E-commerce MQ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em tempo real de vendas e metas do canal E-commerce MQ.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Varejo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metas e vendas do canal Varejo Especializado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Metas e exportacoes internacionais do canal Comercio Exterior.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NO/ND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regional das vendas Norte e Nordeste.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RJ/MG/ES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de vendas e atingimento de metas Rio de Janeiro, Minas e Espirito Santo.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Regional Sul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estrategico da Regional Sul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Mapa Brasil (Geografico)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Geolocalizacao de faturamento e rankings por estado e regioes do Brasil.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Empresa Consolidado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macro corporativo de faturamento e objetivos gerais da empresa.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cana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Canal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dia-a-dia do faturamento realizado por canal.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marc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Diario por Marcas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Evolucao diaria de faturamento e share de marcas corporativas.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v_pais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Paises &amp; Exportacao Global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Mapa mundi e exportacoes internacionais com share por pais.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DIRETORIA EXECUTIVA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v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[Diretoria Executiva]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TV - Estoque &amp; Previsao de Ruptura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Monitoramento de ruptura de estoque, giro e reposicao imediata.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Cockpit de transmissao continua em televisores corporativos com atualizacao automatica a cada 10 min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/ Flask • Apache ECharts • MariaDB •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3_dir__assistec__dashboard_forecast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ASSISTEC. DASHBOARD FORECAST SPARE_PARTS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Previsão de demanda futura de peças sobressalentes e reposição (Spare Parts).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4_dre_assistencia_tecnica___sac_-_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Assistencia Tecnica &amp; SAC - Gestão de Res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Resultados. Acompanhamento de custos operacionais e garantias.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2_dashboard_r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R.A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reclamações, tempo de resposta e reputação no Reclame Aqui.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0_dashboard_sac___assistencia_t__cn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geral de atendimentos, chamados SAC e produtividade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SAC &amp; Assistencia Técnica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Cockpit Executivo &amp; Operacional da Diretoria de Assistência Técnica &amp; SAC (Versão Web). Indicadores de WhatsApp/CRC, Fale Conosco,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ASSISTÊNCIA TÉCNICA &amp; SAC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1_demanda_de_reabastecim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Demanda de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de reposição e demanda de peças e componentes em estoque.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[Assistência Técnica &amp; SAC]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 e rastreamento de devolução e retorno de peças para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COMERCIAL &amp; VENDAS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[Comercial &amp; Vendas]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Painel de Performance Comercial &amp; Vendas B2B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Faturamento por região, margem por produto, ranking de clientes e curva ABC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9_dir_dash_distribui____o_visao_g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DISTRIBUIÇÃO VISAO GERAL- GESTOR - C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Distribuição e visão geral estratégica para gestores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DASH VISÃO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Visão consolidada de comércio exterior, importações e exportações.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1_dir__cml__acomp__perf__produto_e_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comercial de performance por produto e canal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2_dir__dash__performance_equipes_c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produtividade e performance operacional das equipes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3_dir_cml__probabilidade_de_compras_-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DIR.CML. PROBABILIDADE DE COMPRAS - COMEX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Modelos preditivos e análise de probabilidade de compras COMEX.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COMEX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2_dre_comex_-_gest__o_de_resultad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[Comex]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Comex -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Comércio Exterior (Comex). Acompanhamento de faturamento líquido, margens e custos operacionais.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DESENV. PRODUTOS INDICADORES DE IMPORTA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Indicadores de importação, lead time, custos e desembaraço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 10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executivo da Diretoria de Desenvolvimento de Produtos - Nubmetrics (versão 10).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73_dir__assistec__dashboard_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RA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chamados, reputação e índices de atendimento no Reclame Aqui da Assistência Técnica.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DIR.CML ESTOQUE ATUAL CUSTO FINANCEIRO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Estoque atual e custo financeiro consolidado - Diretoria Comercial e Desenvolvimento.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DIR.DASH. ANALISE MARGEM CUSTO GER vs5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gerencial de margens, composição de custos e rentabilidade de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9_dre_desenvolvimento_de_produ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Desenvolvimento de Produtos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da linha de desenvolvimento de produtos e projetos.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9_retorno_de_pe__a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RETORNO DE PEÇAS.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Controle, índices de retorno e conformidade de peças em garantia.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DESENVOLVIMENTO DE PRODUTOS &amp; PROJETOS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7_shopping_pre__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[Desenvolvimento de Produtos &amp; Projetos]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Comparativo dinâmico de preços de produtos no mercado (Shopping de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8_portal_corporativo____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MQ Professional — Painel Executivo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Executivo de Performance E-commerce: evolução diária acumulada (Meta vs Realizado), projeção de fechamento e indicadores po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DIR. DESNV. PRODUTOS -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tendências de mercado e análise de produtos Nubmetrics.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44_dir__cml__mkt__plano_de_midia_2026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MKT. PLANO DE MIDIA 2026 -VS02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Planejamento e acompanhamento estratégico do plano de mídia de marketing e comercial 2026.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45_dir__dash__performance_equipes_2_0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EQUIPES 2.0 ECOMMERCE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metas, produtividade e performance da equipe de E-commerce 2.0.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8_dre_e-comme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[E-commerce]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E-commerce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E-commerce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FINANCEIRO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3_dre_gestores_____g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[Financeiro]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Gestores - Geral (Diretoria)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Consolidado MQ Professional (Diretoria e Gestores). Acompanhamento de faturamento, custos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Controle de Estoque &amp; Acuracidade (Inventário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Dashboard do Gerente de Logística: Acompanhamento de inventário físico, conferência contra Kardex, acuracidade (IRA), divergências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1_dashboard_demanda_reabastecimen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DEMANDA REABASTECIMENTO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DEMANDA REABASTECIMENTO: Módulo nativo conectado ao Oracle Sankhya com cálculo de média de consumo, dias de 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0_dre_log__sti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Logística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- Logística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LOGÍSTICA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7_dashboard_log__stica_____ciclo_do_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Ciclo do Pedido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 DASH LOGISTICA CICLO DO PEDIDO: Acompanhamento de todas as etapas do pedido, lead time de separação, faturamento e expedição.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9_dashboard_log__stica_____invent__r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[Logística]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Logística — Inventário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DIR.DASH LOGISTICA INVENTARIO: Acuracidade de armazém, inventário físico rotativo x saldo contábil, perdas e auditoria de posições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14_dre_rh_____recursos_human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[RH]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RH — Recursos Humanos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— Centro de Custo RH (9010000). Acompanhamento de despesas e custos operacionais de Recur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8_acompanhamento_diario_do_canal_-_f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ACOMPANHAMENTO DIARIO DO CANAL -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Diário de Vendas, Marcas e YTD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7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GER. FORA 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Redes, Parceiros e Produtos Visão Geral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6_dir_cml_dash__profundidade_-_mix_-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 - CARTEIRA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Profundidade de Carteira e Mix de Produtos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4_dir__cml_dash__negocios_e_estrateg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DASH. NEGOCIOS E ESTRATEGIAS FORA 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Painel Comercial de Negócios e Estratégias Regionais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5_dir__cml_varejo_especializado_ge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VAREJO ESPECIALIZADO GESTOR FORA SP 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de Varejo Especializado, Parceiros e Curva ABC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- REG.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 Performance por Produto e Canal Regional FSP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32_dir__dash__performance_equipe_ger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DASH. PERFORMANCE EQUIPE GER. REGIONAL F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de Equipe, Metas e Faturamento Projetado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31_dre_mq_2_1_-_varejo_forasp_distrib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MQ.2.1 - VAREJO_FORASP_DISTRIBUICAO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DRE Varejo Fora SP &amp; Distribuição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12_dre_regional_fsp_____gest__o_de_r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FSP —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da Regional FSP (Distribuição 1020000, Varejo RJ 1010200, Varejo ND 1010300 e Varejo SUL 1010400). Aco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27_dashboard_nubmetrics_-_direto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Nubmetrics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de mercado, análise de vendas e indicadores competitivos Nubmetrics da Regional FSP.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PROMOTOR VERSAO 1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e Apuração de Sell-out de Promotores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FSP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FSP]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 2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Price Tracking e Shopping de Preços - Regional Fora SP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DASH. EVOLUÇÃO REDE E PROD. VISÃO  GER. REGIO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Evolução de vendas da rede e de produtos com visão gerencial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 CML DASH. PROFUNDIDADE - MIX- CARTEIRA RE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Análise profunda de mix de produtos, positivação e carteira de clientes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5_cockpit_geral_de_indicadores_estr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  VAREJO ESPECIALIZADO GESTOR SP.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Gestão e indicadores de vendas no canal Varejo Especializado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DIR. CML. ACOMP. PERF. PRODUTO E CANAL REG.SP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Acompanhamento detalhado de performance por linha de produto e canal comercial.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23_dre_regional_sp_____gest__o_de_res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DRE Regional SP – Gestão de Resultados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Demonstrativo de Resultados do Exercício (DRE) consolidado da Regional SP.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5_cockpit_geral_de_indicadores_estr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WEB APP PYTHON / FLASK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Dashboard Guelta (Ação Promocional AP)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executiva da campanha promocional Guelta (AP), vendas por loja, revendedora e produtos.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Solução web sob medida desenvolvida para automação em tempo real, sem custo de licença por usuário.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Python 3 • Flask • SQL (Oracle/MariaDB) • HTML5/CSS3 Moderno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SELLOUT  PROMOTOR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Performance e acompanhamento do volume de sell-out registrado pelos promotores de vendas.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27432"/>
          </a:xfrm>
          <a:prstGeom prst="rect">
            <a:avLst/>
          </a:prstGeom>
          <a:solidFill>
            <a:srgbClr val="CB9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GALERIA DE DASHBOARDS  |  REGIONAL 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8920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[Regional SP]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SHOPPING PREÇO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  <a:r>
              <a:t>Inteligência competitiva, monitoramento e comparativo de preços de mercado (Shopping Preço).</a:t>
            </a: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257800" cy="5212080"/>
          </a:xfrm>
          <a:prstGeom prst="roundRect">
            <a:avLst/>
          </a:prstGeom>
          <a:solidFill>
            <a:srgbClr val="1A1C21"/>
          </a:solidFill>
          <a:ln w="12700">
            <a:solidFill>
              <a:srgbClr val="282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_62_dash__evolu____o_rede_e_prod__vis_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489204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06908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CB9727"/>
                </a:solidFill>
                <a:latin typeface="Montserrat"/>
              </a:defRPr>
            </a:pPr>
            <a:r>
              <a:t>[TI &amp; BI]  •  POWER BI SERVICE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teste</a:t>
            </a:r>
          </a:p>
          <a:p>
            <a:pPr>
              <a:spcBef>
                <a:spcPts val="300"/>
              </a:spcBef>
              <a:defRPr sz="850">
                <a:solidFill>
                  <a:srgbClr val="A0A6AF"/>
                </a:solidFill>
                <a:latin typeface="Montserrat"/>
              </a:defRPr>
            </a:pPr>
          </a:p>
          <a:p>
            <a:pPr>
              <a:spcBef>
                <a:spcPts val="300"/>
              </a:spcBef>
              <a:defRPr sz="850">
                <a:solidFill>
                  <a:srgbClr val="E5B74B"/>
                </a:solidFill>
                <a:latin typeface="Montserrat"/>
              </a:defRPr>
            </a:pPr>
            <a:r>
              <a:t>Impacto: Acompanhamento estratégico em tempo real, governança de dados corporativa e integração ERP.</a:t>
            </a:r>
          </a:p>
          <a:p>
            <a:pPr>
              <a:spcBef>
                <a:spcPts val="300"/>
              </a:spcBef>
              <a:defRPr sz="750">
                <a:solidFill>
                  <a:srgbClr val="646E7D"/>
                </a:solidFill>
                <a:latin typeface="Montserrat"/>
              </a:defRPr>
            </a:pPr>
            <a:r>
              <a:t>Stack: Power BI Pro • Modelagem Dimensional (Star Schema) • DAX Avançado • ETL / Power Query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C2A6C01FC35B4C98F27BF80BD61D04" ma:contentTypeVersion="11" ma:contentTypeDescription="Crie um novo documento." ma:contentTypeScope="" ma:versionID="2907544e106569120cde375d2fd4e02d">
  <xsd:schema xmlns:xsd="http://www.w3.org/2001/XMLSchema" xmlns:xs="http://www.w3.org/2001/XMLSchema" xmlns:p="http://schemas.microsoft.com/office/2006/metadata/properties" xmlns:ns2="f7088b10-dfe3-4848-b29c-270b315469ff" xmlns:ns3="415d0f87-2af1-4d4c-b68e-7bef43811897" targetNamespace="http://schemas.microsoft.com/office/2006/metadata/properties" ma:root="true" ma:fieldsID="da9cd61046fd5c0494a31fe593fa3def" ns2:_="" ns3:_="">
    <xsd:import namespace="f7088b10-dfe3-4848-b29c-270b315469ff"/>
    <xsd:import namespace="415d0f87-2af1-4d4c-b68e-7bef43811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088b10-dfe3-4848-b29c-270b31546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ab4244d-f499-41b9-8fad-4a9492403e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d0f87-2af1-4d4c-b68e-7bef4381189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aaf60e-8694-456d-a452-90d36ffc2d32}" ma:internalName="TaxCatchAll" ma:showField="CatchAllData" ma:web="415d0f87-2af1-4d4c-b68e-7bef438118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088b10-dfe3-4848-b29c-270b315469ff">
      <Terms xmlns="http://schemas.microsoft.com/office/infopath/2007/PartnerControls"/>
    </lcf76f155ced4ddcb4097134ff3c332f>
    <TaxCatchAll xmlns="415d0f87-2af1-4d4c-b68e-7bef43811897" xsi:nil="true"/>
  </documentManagement>
</p:properties>
</file>

<file path=customXml/itemProps1.xml><?xml version="1.0" encoding="utf-8"?>
<ds:datastoreItem xmlns:ds="http://schemas.openxmlformats.org/officeDocument/2006/customXml" ds:itemID="{A6DA89F0-4FE0-4728-825F-042231D04F7A}"/>
</file>

<file path=customXml/itemProps2.xml><?xml version="1.0" encoding="utf-8"?>
<ds:datastoreItem xmlns:ds="http://schemas.openxmlformats.org/officeDocument/2006/customXml" ds:itemID="{45D16984-076B-4CE0-AADE-56A09E88E028}"/>
</file>

<file path=customXml/itemProps3.xml><?xml version="1.0" encoding="utf-8"?>
<ds:datastoreItem xmlns:ds="http://schemas.openxmlformats.org/officeDocument/2006/customXml" ds:itemID="{BCFF535A-726E-4D99-8691-60C18A85AF2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0x010100FEC2A6C01FC35B4C98F27BF80BD61D04</vt:lpwstr>
  </property>
</Properties>
</file>